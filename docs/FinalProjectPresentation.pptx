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57" r:id="rId4"/>
    <p:sldId id="258" r:id="rId5"/>
    <p:sldId id="259" r:id="rId6"/>
    <p:sldId id="260"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4654E2-F143-B6BF-2B56-ABCF8449CA98}" v="210" dt="2024-04-21T21:54:06.634"/>
    <p1510:client id="{1286D981-03FB-78A5-4D33-DBFDE8DD82D7}" v="2147" dt="2024-04-22T01:55:08.240"/>
    <p1510:client id="{20D2DD93-D37E-F830-3D8D-98E481BCB8A4}" v="43" dt="2024-04-22T02:12:50.492"/>
    <p1510:client id="{79054AF3-8B36-A425-9C4C-3B3A653978BE}" v="7" dt="2024-04-21T15:43:26.413"/>
    <p1510:client id="{7DDE4D90-9055-454B-8ED4-B444E5DA26FB}" v="17" dt="2024-04-22T01:07:58.505"/>
    <p1510:client id="{D70D785E-F1D3-5BD5-52B2-BA5F103740CC}" v="48" dt="2024-04-21T21:05:27.846"/>
    <p1510:client id="{D90FCCD6-D3E8-2894-F8A4-B65709E17CF4}" v="842" dt="2024-04-22T02:49:01.4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Final Project</a:t>
            </a:r>
          </a:p>
        </p:txBody>
      </p:sp>
      <p:sp>
        <p:nvSpPr>
          <p:cNvPr id="3" name="Subtitle 2"/>
          <p:cNvSpPr>
            <a:spLocks noGrp="1"/>
          </p:cNvSpPr>
          <p:nvPr>
            <p:ph type="subTitle" idx="1"/>
          </p:nvPr>
        </p:nvSpPr>
        <p:spPr/>
        <p:txBody>
          <a:bodyPr vert="horz" lIns="91440" tIns="45720" rIns="91440" bIns="45720" rtlCol="0" anchor="t">
            <a:normAutofit lnSpcReduction="10000"/>
          </a:bodyPr>
          <a:lstStyle/>
          <a:p>
            <a:r>
              <a:rPr lang="en-US"/>
              <a:t>Hamza Ali</a:t>
            </a:r>
          </a:p>
          <a:p>
            <a:r>
              <a:rPr lang="en-US"/>
              <a:t>Rania Jamal</a:t>
            </a:r>
          </a:p>
          <a:p>
            <a:r>
              <a:rPr lang="en-US"/>
              <a:t>Riham Khan</a:t>
            </a:r>
          </a:p>
          <a:p>
            <a:r>
              <a:rPr lang="en-US"/>
              <a:t>Ali Chahbandar</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5" name="Rectangle 24">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B3E082-583A-EE15-BC99-10A9600E6FDD}"/>
              </a:ext>
            </a:extLst>
          </p:cNvPr>
          <p:cNvSpPr>
            <a:spLocks noGrp="1"/>
          </p:cNvSpPr>
          <p:nvPr>
            <p:ph type="title"/>
          </p:nvPr>
        </p:nvSpPr>
        <p:spPr>
          <a:xfrm>
            <a:off x="589558" y="244742"/>
            <a:ext cx="7015498" cy="1235225"/>
          </a:xfrm>
        </p:spPr>
        <p:txBody>
          <a:bodyPr vert="horz" lIns="91440" tIns="45720" rIns="91440" bIns="45720" rtlCol="0" anchor="ctr">
            <a:normAutofit/>
          </a:bodyPr>
          <a:lstStyle/>
          <a:p>
            <a:r>
              <a:rPr lang="en-US" sz="3600" kern="1200">
                <a:solidFill>
                  <a:schemeClr val="tx1"/>
                </a:solidFill>
                <a:latin typeface="+mj-lt"/>
                <a:ea typeface="+mj-ea"/>
                <a:cs typeface="+mj-cs"/>
              </a:rPr>
              <a:t>GraphBase.hpp (Given Header file)</a:t>
            </a:r>
          </a:p>
        </p:txBody>
      </p:sp>
      <p:pic>
        <p:nvPicPr>
          <p:cNvPr id="4" name="Content Placeholder 3">
            <a:extLst>
              <a:ext uri="{FF2B5EF4-FFF2-40B4-BE49-F238E27FC236}">
                <a16:creationId xmlns:a16="http://schemas.microsoft.com/office/drawing/2014/main" id="{DBBE5669-BC24-2A53-CE41-5BD3328E71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1801" y="2457288"/>
            <a:ext cx="10668003" cy="3680459"/>
          </a:xfrm>
          <a:prstGeom prst="rect">
            <a:avLst/>
          </a:prstGeom>
          <a:effectLst/>
        </p:spPr>
      </p:pic>
    </p:spTree>
    <p:extLst>
      <p:ext uri="{BB962C8B-B14F-4D97-AF65-F5344CB8AC3E}">
        <p14:creationId xmlns:p14="http://schemas.microsoft.com/office/powerpoint/2010/main" val="1938263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Arc 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9009ED-B707-A604-78A1-23EB6C68563B}"/>
              </a:ext>
            </a:extLst>
          </p:cNvPr>
          <p:cNvSpPr>
            <a:spLocks noGrp="1"/>
          </p:cNvSpPr>
          <p:nvPr>
            <p:ph type="title"/>
          </p:nvPr>
        </p:nvSpPr>
        <p:spPr>
          <a:xfrm>
            <a:off x="5894962" y="479493"/>
            <a:ext cx="5458838" cy="1325563"/>
          </a:xfrm>
        </p:spPr>
        <p:txBody>
          <a:bodyPr>
            <a:normAutofit/>
          </a:bodyPr>
          <a:lstStyle/>
          <a:p>
            <a:r>
              <a:rPr lang="en-US"/>
              <a:t>Header (Part 1)</a:t>
            </a:r>
          </a:p>
        </p:txBody>
      </p:sp>
      <p:sp>
        <p:nvSpPr>
          <p:cNvPr id="19" name="Freeform: Shape 1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A screen shot of a computer program&#10;&#10;Description automatically generated">
            <a:extLst>
              <a:ext uri="{FF2B5EF4-FFF2-40B4-BE49-F238E27FC236}">
                <a16:creationId xmlns:a16="http://schemas.microsoft.com/office/drawing/2014/main" id="{AC0EBD19-2D08-371F-5036-81C2A99E4799}"/>
              </a:ext>
            </a:extLst>
          </p:cNvPr>
          <p:cNvPicPr>
            <a:picLocks noChangeAspect="1"/>
          </p:cNvPicPr>
          <p:nvPr/>
        </p:nvPicPr>
        <p:blipFill>
          <a:blip r:embed="rId2"/>
          <a:stretch>
            <a:fillRect/>
          </a:stretch>
        </p:blipFill>
        <p:spPr>
          <a:xfrm>
            <a:off x="749926" y="511293"/>
            <a:ext cx="4683892"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0" name="Content Placeholder 7">
            <a:extLst>
              <a:ext uri="{FF2B5EF4-FFF2-40B4-BE49-F238E27FC236}">
                <a16:creationId xmlns:a16="http://schemas.microsoft.com/office/drawing/2014/main" id="{872BB0D1-04C8-E9E4-7C30-FF18DC53B881}"/>
              </a:ext>
            </a:extLst>
          </p:cNvPr>
          <p:cNvSpPr>
            <a:spLocks noGrp="1"/>
          </p:cNvSpPr>
          <p:nvPr>
            <p:ph idx="1"/>
          </p:nvPr>
        </p:nvSpPr>
        <p:spPr>
          <a:xfrm>
            <a:off x="5894962" y="1495399"/>
            <a:ext cx="5515704" cy="5041713"/>
          </a:xfrm>
        </p:spPr>
        <p:txBody>
          <a:bodyPr vert="horz" lIns="91440" tIns="45720" rIns="91440" bIns="45720" rtlCol="0" anchor="t">
            <a:normAutofit/>
          </a:bodyPr>
          <a:lstStyle/>
          <a:p>
            <a:r>
              <a:rPr lang="en-US" sz="1800">
                <a:ea typeface="+mn-lt"/>
                <a:cs typeface="+mn-lt"/>
              </a:rPr>
              <a:t>The first header file of this project, Graph.hpp, includes the essential boilerplate for constructing and manipulating a graph data structure in C++. </a:t>
            </a:r>
          </a:p>
          <a:p>
            <a:r>
              <a:rPr lang="en-US" sz="1800">
                <a:ea typeface="+mn-lt"/>
                <a:cs typeface="+mn-lt"/>
              </a:rPr>
              <a:t> By embracing vertices, edges, and their relationships, this framework promotes versatility in addressing various graph-related tasks across many applications. </a:t>
            </a:r>
            <a:endParaRPr lang="en-US" sz="1800">
              <a:solidFill>
                <a:srgbClr val="000000"/>
              </a:solidFill>
              <a:ea typeface="+mn-lt"/>
              <a:cs typeface="+mn-lt"/>
            </a:endParaRPr>
          </a:p>
          <a:p>
            <a:r>
              <a:rPr lang="en-US" sz="1800">
                <a:solidFill>
                  <a:srgbClr val="000000"/>
                </a:solidFill>
                <a:ea typeface="+mn-lt"/>
                <a:cs typeface="+mn-lt"/>
              </a:rPr>
              <a:t>This portion of code includes a series of libraries that wi</a:t>
            </a:r>
            <a:r>
              <a:rPr lang="en-US" sz="1800">
                <a:ea typeface="+mn-lt"/>
                <a:cs typeface="+mn-lt"/>
              </a:rPr>
              <a:t>ll be used for defining the fundamental components of a graph data structure, such as vertices, edges, and their relationships.</a:t>
            </a:r>
          </a:p>
          <a:p>
            <a:r>
              <a:rPr lang="en-US" sz="1800">
                <a:ea typeface="+mn-lt"/>
                <a:cs typeface="+mn-lt"/>
              </a:rPr>
              <a:t>Beneath the libraries are some of the structures: vertex and edge. Each Edge contains data members, weight which clearly holds the weight of the edge, while v1 and v2 are the vertices that the edge is incident on.</a:t>
            </a:r>
          </a:p>
          <a:p>
            <a:endParaRPr lang="en-US" sz="1800">
              <a:ea typeface="+mn-lt"/>
              <a:cs typeface="+mn-lt"/>
            </a:endParaRPr>
          </a:p>
          <a:p>
            <a:endParaRPr lang="en-US" sz="1800">
              <a:ea typeface="+mn-lt"/>
              <a:cs typeface="+mn-lt"/>
            </a:endParaRPr>
          </a:p>
          <a:p>
            <a:pPr marL="0" indent="0">
              <a:buNone/>
            </a:pPr>
            <a:endParaRPr lang="en-US" sz="1800">
              <a:ea typeface="+mn-lt"/>
              <a:cs typeface="+mn-lt"/>
            </a:endParaRPr>
          </a:p>
        </p:txBody>
      </p:sp>
    </p:spTree>
    <p:extLst>
      <p:ext uri="{BB962C8B-B14F-4D97-AF65-F5344CB8AC3E}">
        <p14:creationId xmlns:p14="http://schemas.microsoft.com/office/powerpoint/2010/main" val="826636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9997CC-CA78-E595-7060-45590202F818}"/>
              </a:ext>
            </a:extLst>
          </p:cNvPr>
          <p:cNvSpPr>
            <a:spLocks noGrp="1"/>
          </p:cNvSpPr>
          <p:nvPr>
            <p:ph type="title"/>
          </p:nvPr>
        </p:nvSpPr>
        <p:spPr>
          <a:xfrm>
            <a:off x="1984" y="1435639"/>
            <a:ext cx="4469188" cy="922953"/>
          </a:xfrm>
        </p:spPr>
        <p:txBody>
          <a:bodyPr anchor="b">
            <a:normAutofit/>
          </a:bodyPr>
          <a:lstStyle/>
          <a:p>
            <a:r>
              <a:rPr lang="en-US" sz="5400"/>
              <a:t>Header (Part 2)</a:t>
            </a:r>
          </a:p>
        </p:txBody>
      </p:sp>
      <p:sp>
        <p:nvSpPr>
          <p:cNvPr id="14"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C012498A-995A-7F08-45D0-2ABF6125A9F0}"/>
              </a:ext>
            </a:extLst>
          </p:cNvPr>
          <p:cNvSpPr>
            <a:spLocks noGrp="1"/>
          </p:cNvSpPr>
          <p:nvPr>
            <p:ph idx="1"/>
          </p:nvPr>
        </p:nvSpPr>
        <p:spPr>
          <a:xfrm>
            <a:off x="375232" y="2807208"/>
            <a:ext cx="3919952" cy="3410712"/>
          </a:xfrm>
        </p:spPr>
        <p:txBody>
          <a:bodyPr anchor="t">
            <a:normAutofit lnSpcReduction="10000"/>
          </a:bodyPr>
          <a:lstStyle/>
          <a:p>
            <a:r>
              <a:rPr lang="en-US" sz="1800">
                <a:ea typeface="+mn-lt"/>
                <a:cs typeface="+mn-lt"/>
              </a:rPr>
              <a:t>In essence, Graph.hpp serves as the cornerstone for graph-based solutions, offering a strong toolkit for navigating complex networks and relationships within software applications.</a:t>
            </a:r>
          </a:p>
          <a:p>
            <a:r>
              <a:rPr lang="en-US" sz="1800">
                <a:ea typeface="+mn-lt"/>
                <a:cs typeface="+mn-lt"/>
              </a:rPr>
              <a:t>With a comprehensive set of functions for adding and removing vertices, establishing and deleting edges, and computing the shortest path via Dijkstra's algorithm, this header file lays the groundwork for efficient graph operations.</a:t>
            </a:r>
            <a:endParaRPr lang="en-US" sz="1800"/>
          </a:p>
        </p:txBody>
      </p:sp>
      <p:pic>
        <p:nvPicPr>
          <p:cNvPr id="5" name="Content Placeholder 4" descr="A screen shot of a computer program&#10;&#10;Description automatically generated">
            <a:extLst>
              <a:ext uri="{FF2B5EF4-FFF2-40B4-BE49-F238E27FC236}">
                <a16:creationId xmlns:a16="http://schemas.microsoft.com/office/drawing/2014/main" id="{C752CF0F-155A-23D5-5C53-E415F8330629}"/>
              </a:ext>
            </a:extLst>
          </p:cNvPr>
          <p:cNvPicPr>
            <a:picLocks noChangeAspect="1"/>
          </p:cNvPicPr>
          <p:nvPr/>
        </p:nvPicPr>
        <p:blipFill>
          <a:blip r:embed="rId2"/>
          <a:stretch>
            <a:fillRect/>
          </a:stretch>
        </p:blipFill>
        <p:spPr>
          <a:xfrm>
            <a:off x="4654296" y="926401"/>
            <a:ext cx="6903720" cy="5005197"/>
          </a:xfrm>
          <a:prstGeom prst="rect">
            <a:avLst/>
          </a:prstGeom>
        </p:spPr>
      </p:pic>
    </p:spTree>
    <p:extLst>
      <p:ext uri="{BB962C8B-B14F-4D97-AF65-F5344CB8AC3E}">
        <p14:creationId xmlns:p14="http://schemas.microsoft.com/office/powerpoint/2010/main" val="914953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Arc 1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8D1985-622B-2C82-D561-AC6B3979BE2C}"/>
              </a:ext>
            </a:extLst>
          </p:cNvPr>
          <p:cNvSpPr>
            <a:spLocks noGrp="1"/>
          </p:cNvSpPr>
          <p:nvPr>
            <p:ph type="title"/>
          </p:nvPr>
        </p:nvSpPr>
        <p:spPr>
          <a:xfrm>
            <a:off x="5894962" y="479493"/>
            <a:ext cx="5458838" cy="1325563"/>
          </a:xfrm>
        </p:spPr>
        <p:txBody>
          <a:bodyPr>
            <a:normAutofit/>
          </a:bodyPr>
          <a:lstStyle/>
          <a:p>
            <a:r>
              <a:rPr lang="en-US"/>
              <a:t>Graph.cpp (Part 1)</a:t>
            </a: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a:extLst>
              <a:ext uri="{FF2B5EF4-FFF2-40B4-BE49-F238E27FC236}">
                <a16:creationId xmlns:a16="http://schemas.microsoft.com/office/drawing/2014/main" id="{1C4A7A3D-98F9-01C8-F344-708B26364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182" y="590594"/>
            <a:ext cx="4777381" cy="550706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8" name="Content Placeholder 7">
            <a:extLst>
              <a:ext uri="{FF2B5EF4-FFF2-40B4-BE49-F238E27FC236}">
                <a16:creationId xmlns:a16="http://schemas.microsoft.com/office/drawing/2014/main" id="{3697B126-B90C-15E9-E3B2-1A0E73425799}"/>
              </a:ext>
            </a:extLst>
          </p:cNvPr>
          <p:cNvSpPr>
            <a:spLocks noGrp="1"/>
          </p:cNvSpPr>
          <p:nvPr>
            <p:ph idx="1"/>
          </p:nvPr>
        </p:nvSpPr>
        <p:spPr>
          <a:xfrm>
            <a:off x="5894962" y="1513947"/>
            <a:ext cx="5458838" cy="4657902"/>
          </a:xfrm>
        </p:spPr>
        <p:txBody>
          <a:bodyPr vert="horz" lIns="91440" tIns="45720" rIns="91440" bIns="45720" rtlCol="0" anchor="t">
            <a:normAutofit lnSpcReduction="10000"/>
          </a:bodyPr>
          <a:lstStyle/>
          <a:p>
            <a:r>
              <a:rPr lang="en-US" sz="1800"/>
              <a:t>The file Graph.cpp is comprised of all the function definitions that were declared in both header files, </a:t>
            </a:r>
            <a:r>
              <a:rPr lang="en-US" sz="1800">
                <a:ea typeface="+mn-lt"/>
                <a:cs typeface="+mn-lt"/>
              </a:rPr>
              <a:t>providing fundamental operations for vertex and edge manipulation within the graph data structure.</a:t>
            </a:r>
          </a:p>
          <a:p>
            <a:r>
              <a:rPr lang="en-US" sz="1800"/>
              <a:t>The </a:t>
            </a:r>
            <a:r>
              <a:rPr lang="en-US" sz="1800" b="1" err="1"/>
              <a:t>IsGreater</a:t>
            </a:r>
            <a:r>
              <a:rPr lang="en-US" sz="1800"/>
              <a:t> class</a:t>
            </a:r>
            <a:r>
              <a:rPr lang="en-US" sz="1800">
                <a:ea typeface="+mn-lt"/>
                <a:cs typeface="+mn-lt"/>
              </a:rPr>
              <a:t> defines an operator that is used for comparing different EdgeNode objects based on their weights, enabling the sorting arrangement within a priority queue.</a:t>
            </a:r>
          </a:p>
          <a:p>
            <a:r>
              <a:rPr lang="en-US" sz="1800"/>
              <a:t>The </a:t>
            </a:r>
            <a:r>
              <a:rPr lang="en-US" sz="1800" b="1" err="1"/>
              <a:t>addVertex</a:t>
            </a:r>
            <a:r>
              <a:rPr lang="en-US" sz="1800" b="1"/>
              <a:t>()</a:t>
            </a:r>
            <a:r>
              <a:rPr lang="en-US" sz="1800"/>
              <a:t> function is a void function that takes a string for the name and allocates memory for a new vertex and adds it to the adjacency list.</a:t>
            </a:r>
          </a:p>
          <a:p>
            <a:r>
              <a:rPr lang="en-US" sz="1800"/>
              <a:t>The </a:t>
            </a:r>
            <a:r>
              <a:rPr lang="en-US" sz="1800" b="1" err="1"/>
              <a:t>removeVertex</a:t>
            </a:r>
            <a:r>
              <a:rPr lang="en-US" sz="1800" b="1"/>
              <a:t>()</a:t>
            </a:r>
            <a:r>
              <a:rPr lang="en-US" sz="1800"/>
              <a:t> function, also a void function, locates the vertex to be removed from the adjacency list, then it proceeds to delete all edges connected to the vertex and removes the vertex itself from the list, releasing the memory that was allocated.</a:t>
            </a:r>
          </a:p>
        </p:txBody>
      </p:sp>
    </p:spTree>
    <p:extLst>
      <p:ext uri="{BB962C8B-B14F-4D97-AF65-F5344CB8AC3E}">
        <p14:creationId xmlns:p14="http://schemas.microsoft.com/office/powerpoint/2010/main" val="2663001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4CA60-C2E8-EB08-F994-85777C80CD8B}"/>
              </a:ext>
            </a:extLst>
          </p:cNvPr>
          <p:cNvSpPr>
            <a:spLocks noGrp="1"/>
          </p:cNvSpPr>
          <p:nvPr>
            <p:ph type="title"/>
          </p:nvPr>
        </p:nvSpPr>
        <p:spPr>
          <a:xfrm>
            <a:off x="411480" y="991443"/>
            <a:ext cx="4443154" cy="1087819"/>
          </a:xfrm>
        </p:spPr>
        <p:txBody>
          <a:bodyPr anchor="b">
            <a:normAutofit/>
          </a:bodyPr>
          <a:lstStyle/>
          <a:p>
            <a:r>
              <a:rPr lang="en-US" sz="3400"/>
              <a:t>Graph.cpp (Part 2)</a:t>
            </a:r>
          </a:p>
        </p:txBody>
      </p:sp>
      <p:sp>
        <p:nvSpPr>
          <p:cNvPr id="13" name="Rectangle 1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91470EA3-EB56-D4E9-A27A-0E6D907CA135}"/>
              </a:ext>
            </a:extLst>
          </p:cNvPr>
          <p:cNvSpPr>
            <a:spLocks noGrp="1"/>
          </p:cNvSpPr>
          <p:nvPr>
            <p:ph idx="1"/>
          </p:nvPr>
        </p:nvSpPr>
        <p:spPr>
          <a:xfrm>
            <a:off x="411480" y="2684095"/>
            <a:ext cx="4443154" cy="3492868"/>
          </a:xfrm>
        </p:spPr>
        <p:txBody>
          <a:bodyPr vert="horz" lIns="91440" tIns="45720" rIns="91440" bIns="45720" rtlCol="0" anchor="t">
            <a:noAutofit/>
          </a:bodyPr>
          <a:lstStyle/>
          <a:p>
            <a:r>
              <a:rPr lang="en-US" sz="1800">
                <a:ea typeface="+mn-lt"/>
                <a:cs typeface="+mn-lt"/>
              </a:rPr>
              <a:t>The </a:t>
            </a:r>
            <a:r>
              <a:rPr lang="en-US" sz="1800" b="1" err="1">
                <a:ea typeface="+mn-lt"/>
                <a:cs typeface="+mn-lt"/>
              </a:rPr>
              <a:t>addEdge</a:t>
            </a:r>
            <a:r>
              <a:rPr lang="en-US" sz="1800" b="1">
                <a:ea typeface="+mn-lt"/>
                <a:cs typeface="+mn-lt"/>
              </a:rPr>
              <a:t>()</a:t>
            </a:r>
            <a:r>
              <a:rPr lang="en-US" sz="1800">
                <a:ea typeface="+mn-lt"/>
                <a:cs typeface="+mn-lt"/>
              </a:rPr>
              <a:t> function, another void function, establishes a connection between two vertices identified by their labels, assigning a weight to the edge. This connection is reflected by adding the edge to the lists of adjacent edges for both vertices involved.</a:t>
            </a:r>
            <a:endParaRPr lang="en-US" sz="1800"/>
          </a:p>
          <a:p>
            <a:r>
              <a:rPr lang="en-US" sz="1800">
                <a:ea typeface="+mn-lt"/>
                <a:cs typeface="+mn-lt"/>
              </a:rPr>
              <a:t>Similarly, the </a:t>
            </a:r>
            <a:r>
              <a:rPr lang="en-US" sz="1800" b="1" err="1">
                <a:ea typeface="+mn-lt"/>
                <a:cs typeface="+mn-lt"/>
              </a:rPr>
              <a:t>removeEdge</a:t>
            </a:r>
            <a:r>
              <a:rPr lang="en-US" sz="1800" b="1">
                <a:ea typeface="+mn-lt"/>
                <a:cs typeface="+mn-lt"/>
              </a:rPr>
              <a:t>()</a:t>
            </a:r>
            <a:r>
              <a:rPr lang="en-US" sz="1800">
                <a:ea typeface="+mn-lt"/>
                <a:cs typeface="+mn-lt"/>
              </a:rPr>
              <a:t> function, also void, searches for the edge connecting two specified vertices and removes it from their respective lists of adjacent edges. This action effectively severs the connection between the two vertices.</a:t>
            </a:r>
            <a:endParaRPr lang="en-US" sz="1800"/>
          </a:p>
          <a:p>
            <a:endParaRPr lang="en-US" sz="1800"/>
          </a:p>
        </p:txBody>
      </p:sp>
      <p:pic>
        <p:nvPicPr>
          <p:cNvPr id="4" name="Content Placeholder 3">
            <a:extLst>
              <a:ext uri="{FF2B5EF4-FFF2-40B4-BE49-F238E27FC236}">
                <a16:creationId xmlns:a16="http://schemas.microsoft.com/office/drawing/2014/main" id="{8A0B992B-1800-9F3F-DFF5-80BD1C2C66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5816" y="696345"/>
            <a:ext cx="6440424" cy="5409956"/>
          </a:xfrm>
          <a:prstGeom prst="rect">
            <a:avLst/>
          </a:prstGeom>
        </p:spPr>
      </p:pic>
    </p:spTree>
    <p:extLst>
      <p:ext uri="{BB962C8B-B14F-4D97-AF65-F5344CB8AC3E}">
        <p14:creationId xmlns:p14="http://schemas.microsoft.com/office/powerpoint/2010/main" val="3402398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AE48C4B-3A90-42C3-BA00-6092B4771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2EE6B-E0E8-059F-52E6-F0F54CC4CC6C}"/>
              </a:ext>
            </a:extLst>
          </p:cNvPr>
          <p:cNvSpPr>
            <a:spLocks noGrp="1"/>
          </p:cNvSpPr>
          <p:nvPr>
            <p:ph type="title"/>
          </p:nvPr>
        </p:nvSpPr>
        <p:spPr>
          <a:xfrm>
            <a:off x="4654296" y="329184"/>
            <a:ext cx="6894576" cy="1783080"/>
          </a:xfrm>
        </p:spPr>
        <p:txBody>
          <a:bodyPr anchor="b">
            <a:normAutofit/>
          </a:bodyPr>
          <a:lstStyle/>
          <a:p>
            <a:r>
              <a:rPr lang="en-US" sz="5400"/>
              <a:t>Graph.cpp (Part 3)</a:t>
            </a:r>
          </a:p>
        </p:txBody>
      </p:sp>
      <p:sp>
        <p:nvSpPr>
          <p:cNvPr id="24" name="sketch line">
            <a:extLst>
              <a:ext uri="{FF2B5EF4-FFF2-40B4-BE49-F238E27FC236}">
                <a16:creationId xmlns:a16="http://schemas.microsoft.com/office/drawing/2014/main" id="{F919E280-CA27-4214-97E6-294E0C3BC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463186"/>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2" descr="A screen shot of a computer code&#10;&#10;Description automatically generated">
            <a:extLst>
              <a:ext uri="{FF2B5EF4-FFF2-40B4-BE49-F238E27FC236}">
                <a16:creationId xmlns:a16="http://schemas.microsoft.com/office/drawing/2014/main" id="{6A23F049-015C-636C-486A-B25BAAA08278}"/>
              </a:ext>
            </a:extLst>
          </p:cNvPr>
          <p:cNvPicPr>
            <a:picLocks noChangeAspect="1"/>
          </p:cNvPicPr>
          <p:nvPr/>
        </p:nvPicPr>
        <p:blipFill rotWithShape="1">
          <a:blip r:embed="rId2"/>
          <a:srcRect t="3467" r="3" b="3"/>
          <a:stretch/>
        </p:blipFill>
        <p:spPr>
          <a:xfrm>
            <a:off x="1" y="4183250"/>
            <a:ext cx="4063996" cy="2674750"/>
          </a:xfrm>
          <a:custGeom>
            <a:avLst/>
            <a:gdLst/>
            <a:ahLst/>
            <a:cxnLst/>
            <a:rect l="l" t="t" r="r" b="b"/>
            <a:pathLst>
              <a:path w="4051081"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cubicBezTo>
                  <a:pt x="4042100" y="1477465"/>
                  <a:pt x="4059584" y="1566941"/>
                  <a:pt x="4046914" y="1661622"/>
                </a:cubicBezTo>
                <a:cubicBezTo>
                  <a:pt x="4039566" y="1720003"/>
                  <a:pt x="4037919" y="177965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pic>
      <p:sp>
        <p:nvSpPr>
          <p:cNvPr id="19" name="Content Placeholder 18">
            <a:extLst>
              <a:ext uri="{FF2B5EF4-FFF2-40B4-BE49-F238E27FC236}">
                <a16:creationId xmlns:a16="http://schemas.microsoft.com/office/drawing/2014/main" id="{2D98B094-4654-61B2-1F2B-9267936690EA}"/>
              </a:ext>
            </a:extLst>
          </p:cNvPr>
          <p:cNvSpPr>
            <a:spLocks noGrp="1"/>
          </p:cNvSpPr>
          <p:nvPr>
            <p:ph idx="1"/>
          </p:nvPr>
        </p:nvSpPr>
        <p:spPr>
          <a:xfrm>
            <a:off x="4266839" y="2487067"/>
            <a:ext cx="7824472" cy="4710809"/>
          </a:xfrm>
        </p:spPr>
        <p:txBody>
          <a:bodyPr vert="horz" lIns="91440" tIns="45720" rIns="91440" bIns="45720" rtlCol="0" anchor="t">
            <a:normAutofit/>
          </a:bodyPr>
          <a:lstStyle/>
          <a:p>
            <a:r>
              <a:rPr lang="en-US" sz="1800">
                <a:ea typeface="+mn-lt"/>
                <a:cs typeface="+mn-lt"/>
              </a:rPr>
              <a:t>The </a:t>
            </a:r>
            <a:r>
              <a:rPr lang="en-US" sz="1800" b="1" err="1">
                <a:ea typeface="+mn-lt"/>
                <a:cs typeface="+mn-lt"/>
              </a:rPr>
              <a:t>shortestPath</a:t>
            </a:r>
            <a:r>
              <a:rPr lang="en-US" sz="1800" b="1">
                <a:ea typeface="+mn-lt"/>
                <a:cs typeface="+mn-lt"/>
              </a:rPr>
              <a:t>()</a:t>
            </a:r>
            <a:r>
              <a:rPr lang="en-US" sz="1800">
                <a:ea typeface="+mn-lt"/>
                <a:cs typeface="+mn-lt"/>
              </a:rPr>
              <a:t> function calculates the shortest path between two specified vertices within the graph. Using Dijkstra's algorithm, it determines the most efficient route based on the weights of the edges connecting the vertices. The function returns the shortest path as a vector of vertex labels traversed from the starting vertex to the destination vertex, and it also provides the length of the shortest path.</a:t>
            </a:r>
          </a:p>
          <a:p>
            <a:r>
              <a:rPr lang="en-US" sz="1800">
                <a:ea typeface="+mn-lt"/>
                <a:cs typeface="+mn-lt"/>
              </a:rPr>
              <a:t>Within the </a:t>
            </a:r>
            <a:r>
              <a:rPr lang="en-US" sz="1800" b="1" err="1">
                <a:ea typeface="+mn-lt"/>
                <a:cs typeface="+mn-lt"/>
              </a:rPr>
              <a:t>shortestPath</a:t>
            </a:r>
            <a:r>
              <a:rPr lang="en-US" sz="1800" b="1">
                <a:ea typeface="+mn-lt"/>
                <a:cs typeface="+mn-lt"/>
              </a:rPr>
              <a:t>()</a:t>
            </a:r>
            <a:r>
              <a:rPr lang="en-US" sz="1800">
                <a:ea typeface="+mn-lt"/>
                <a:cs typeface="+mn-lt"/>
              </a:rPr>
              <a:t> function, the logic follows the Dijkstra's algorithm to efficiently find the shortest path. Initially, the function sets up a priority queue to store candidate paths, prioritized by their weights. It then iteratively explores neighboring vertices, updating the shortest path to each vertex as it progresses. This iterative process continues until the we reach the destination vertex, ensuring that the shortest path from the starting vertex to every other vertex is calculated. By employing a combination of data structures like unordered sets and maps, along with the priority queue, the function efficiently explores the graph, ultimately delivering the shortest path with optimal time complexity</a:t>
            </a:r>
            <a:r>
              <a:rPr lang="en-US" sz="1200">
                <a:ea typeface="+mn-lt"/>
                <a:cs typeface="+mn-lt"/>
              </a:rPr>
              <a:t>.</a:t>
            </a:r>
            <a:endParaRPr lang="en-US" sz="1800"/>
          </a:p>
        </p:txBody>
      </p:sp>
      <p:pic>
        <p:nvPicPr>
          <p:cNvPr id="6" name="Content Placeholder 2" descr="A screen shot of a computer program&#10;&#10;Description automatically generated">
            <a:extLst>
              <a:ext uri="{FF2B5EF4-FFF2-40B4-BE49-F238E27FC236}">
                <a16:creationId xmlns:a16="http://schemas.microsoft.com/office/drawing/2014/main" id="{A4F1543C-7152-ACD9-F048-C2C0BA1C2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9" y="1541"/>
            <a:ext cx="4054981" cy="4329330"/>
          </a:xfrm>
          <a:prstGeom prst="rect">
            <a:avLst/>
          </a:prstGeom>
        </p:spPr>
      </p:pic>
    </p:spTree>
    <p:extLst>
      <p:ext uri="{BB962C8B-B14F-4D97-AF65-F5344CB8AC3E}">
        <p14:creationId xmlns:p14="http://schemas.microsoft.com/office/powerpoint/2010/main" val="3743161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49161E9-59E4-57D5-CB83-9AC14D927C6F}"/>
              </a:ext>
            </a:extLst>
          </p:cNvPr>
          <p:cNvSpPr>
            <a:spLocks noGrp="1"/>
          </p:cNvSpPr>
          <p:nvPr>
            <p:ph type="title"/>
          </p:nvPr>
        </p:nvSpPr>
        <p:spPr>
          <a:xfrm>
            <a:off x="853060" y="636014"/>
            <a:ext cx="3387086" cy="858331"/>
          </a:xfrm>
        </p:spPr>
        <p:txBody>
          <a:bodyPr>
            <a:normAutofit/>
          </a:bodyPr>
          <a:lstStyle/>
          <a:p>
            <a:r>
              <a:rPr lang="en-US" sz="2800"/>
              <a:t>Graph.cpp (Part 5)</a:t>
            </a:r>
          </a:p>
        </p:txBody>
      </p:sp>
      <p:sp>
        <p:nvSpPr>
          <p:cNvPr id="15" name="Rectangle 14">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9793A31C-C144-9BBD-FEC4-6EDB80FA1E87}"/>
              </a:ext>
            </a:extLst>
          </p:cNvPr>
          <p:cNvSpPr>
            <a:spLocks noGrp="1"/>
          </p:cNvSpPr>
          <p:nvPr>
            <p:ph idx="1"/>
          </p:nvPr>
        </p:nvSpPr>
        <p:spPr>
          <a:xfrm>
            <a:off x="415946" y="1372731"/>
            <a:ext cx="4280546" cy="5031085"/>
          </a:xfrm>
        </p:spPr>
        <p:txBody>
          <a:bodyPr vert="horz" lIns="91440" tIns="45720" rIns="91440" bIns="45720" rtlCol="0" anchor="t">
            <a:normAutofit/>
          </a:bodyPr>
          <a:lstStyle/>
          <a:p>
            <a:r>
              <a:rPr lang="en-US" sz="1800"/>
              <a:t>The</a:t>
            </a:r>
            <a:r>
              <a:rPr lang="en-US" sz="1800">
                <a:ea typeface="+mn-lt"/>
                <a:cs typeface="+mn-lt"/>
              </a:rPr>
              <a:t> </a:t>
            </a:r>
            <a:r>
              <a:rPr lang="en-US" sz="1800" b="1">
                <a:ea typeface="+mn-lt"/>
                <a:cs typeface="+mn-lt"/>
              </a:rPr>
              <a:t>clear()</a:t>
            </a:r>
            <a:r>
              <a:rPr lang="en-US" sz="1800">
                <a:ea typeface="+mn-lt"/>
                <a:cs typeface="+mn-lt"/>
              </a:rPr>
              <a:t> function removes all vertices and edges from the graph, efficiently resetting it to an empty state.</a:t>
            </a:r>
            <a:endParaRPr lang="en-US" sz="1800"/>
          </a:p>
          <a:p>
            <a:r>
              <a:rPr lang="en-US" sz="1800">
                <a:ea typeface="+mn-lt"/>
                <a:cs typeface="+mn-lt"/>
              </a:rPr>
              <a:t>The </a:t>
            </a:r>
            <a:r>
              <a:rPr lang="en-US" sz="1800" b="1">
                <a:ea typeface="+mn-lt"/>
                <a:cs typeface="+mn-lt"/>
              </a:rPr>
              <a:t>~Graph()</a:t>
            </a:r>
            <a:r>
              <a:rPr lang="en-US" sz="1800">
                <a:ea typeface="+mn-lt"/>
                <a:cs typeface="+mn-lt"/>
              </a:rPr>
              <a:t> deconstructor is called when we're done using a Graph object, it simply just runs the clear function. This helps avoid memory leaks.</a:t>
            </a:r>
          </a:p>
          <a:p>
            <a:r>
              <a:rPr lang="en-US" sz="1800">
                <a:ea typeface="+mn-lt"/>
                <a:cs typeface="+mn-lt"/>
              </a:rPr>
              <a:t>The </a:t>
            </a:r>
            <a:r>
              <a:rPr lang="en-US" sz="1800" b="1">
                <a:ea typeface="+mn-lt"/>
                <a:cs typeface="+mn-lt"/>
              </a:rPr>
              <a:t>print()</a:t>
            </a:r>
            <a:r>
              <a:rPr lang="en-US" sz="1800">
                <a:ea typeface="+mn-lt"/>
                <a:cs typeface="+mn-lt"/>
              </a:rPr>
              <a:t> function iterates through the adjacency list and displays the vertices along with their adjacent edges and respective weights, providing a visual representation of the graph's structure.</a:t>
            </a:r>
          </a:p>
          <a:p>
            <a:r>
              <a:rPr lang="en-US" sz="1800">
                <a:ea typeface="+mn-lt"/>
                <a:cs typeface="+mn-lt"/>
              </a:rPr>
              <a:t>The </a:t>
            </a:r>
            <a:r>
              <a:rPr lang="en-US" sz="1800" b="1" err="1">
                <a:ea typeface="+mn-lt"/>
                <a:cs typeface="+mn-lt"/>
              </a:rPr>
              <a:t>EdgeStruct</a:t>
            </a:r>
            <a:r>
              <a:rPr lang="en-US" sz="1800" b="1">
                <a:ea typeface="+mn-lt"/>
                <a:cs typeface="+mn-lt"/>
              </a:rPr>
              <a:t>{}</a:t>
            </a:r>
            <a:r>
              <a:rPr lang="en-US" sz="1800">
                <a:ea typeface="+mn-lt"/>
                <a:cs typeface="+mn-lt"/>
              </a:rPr>
              <a:t> defines a simple structure encapsulating data about an edge, including the labels of the vertices it connects (</a:t>
            </a:r>
            <a:r>
              <a:rPr lang="en-US" sz="1800" b="1">
                <a:ea typeface="+mn-lt"/>
                <a:cs typeface="+mn-lt"/>
              </a:rPr>
              <a:t>a</a:t>
            </a:r>
            <a:r>
              <a:rPr lang="en-US" sz="1800">
                <a:ea typeface="+mn-lt"/>
                <a:cs typeface="+mn-lt"/>
              </a:rPr>
              <a:t> and </a:t>
            </a:r>
            <a:r>
              <a:rPr lang="en-US" sz="1800" b="1">
                <a:ea typeface="+mn-lt"/>
                <a:cs typeface="+mn-lt"/>
              </a:rPr>
              <a:t>b</a:t>
            </a:r>
            <a:r>
              <a:rPr lang="en-US" sz="1800">
                <a:ea typeface="+mn-lt"/>
                <a:cs typeface="+mn-lt"/>
              </a:rPr>
              <a:t>) and the weight of the edge (</a:t>
            </a:r>
            <a:r>
              <a:rPr lang="en-US" sz="1800" b="1">
                <a:ea typeface="+mn-lt"/>
                <a:cs typeface="+mn-lt"/>
              </a:rPr>
              <a:t>w</a:t>
            </a:r>
            <a:r>
              <a:rPr lang="en-US" sz="1800">
                <a:ea typeface="+mn-lt"/>
                <a:cs typeface="+mn-lt"/>
              </a:rPr>
              <a:t>).</a:t>
            </a:r>
            <a:endParaRPr lang="en-US" sz="1800"/>
          </a:p>
        </p:txBody>
      </p:sp>
      <p:pic>
        <p:nvPicPr>
          <p:cNvPr id="4" name="Content Placeholder 3">
            <a:extLst>
              <a:ext uri="{FF2B5EF4-FFF2-40B4-BE49-F238E27FC236}">
                <a16:creationId xmlns:a16="http://schemas.microsoft.com/office/drawing/2014/main" id="{97598B2C-8724-2E1F-AA79-D0F92F1DD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9958" y="1013187"/>
            <a:ext cx="7080165" cy="4835117"/>
          </a:xfrm>
          <a:prstGeom prst="rect">
            <a:avLst/>
          </a:prstGeom>
        </p:spPr>
      </p:pic>
    </p:spTree>
    <p:extLst>
      <p:ext uri="{BB962C8B-B14F-4D97-AF65-F5344CB8AC3E}">
        <p14:creationId xmlns:p14="http://schemas.microsoft.com/office/powerpoint/2010/main" val="2879046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5644" y="0"/>
            <a:ext cx="1046356"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1" name="Rectangle 20">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6444" y="0"/>
            <a:ext cx="6075554"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99F946-FA6F-4A6C-F8AE-530C0AD22AE2}"/>
              </a:ext>
            </a:extLst>
          </p:cNvPr>
          <p:cNvSpPr>
            <a:spLocks noGrp="1"/>
          </p:cNvSpPr>
          <p:nvPr>
            <p:ph type="title"/>
          </p:nvPr>
        </p:nvSpPr>
        <p:spPr>
          <a:xfrm>
            <a:off x="6816432" y="762001"/>
            <a:ext cx="4554680" cy="1708243"/>
          </a:xfrm>
        </p:spPr>
        <p:txBody>
          <a:bodyPr anchor="ctr">
            <a:normAutofit/>
          </a:bodyPr>
          <a:lstStyle/>
          <a:p>
            <a:r>
              <a:rPr lang="en-US" sz="4000"/>
              <a:t>Main.cpp (Part 1)</a:t>
            </a:r>
          </a:p>
        </p:txBody>
      </p:sp>
      <p:pic>
        <p:nvPicPr>
          <p:cNvPr id="4" name="Content Placeholder 3">
            <a:extLst>
              <a:ext uri="{FF2B5EF4-FFF2-40B4-BE49-F238E27FC236}">
                <a16:creationId xmlns:a16="http://schemas.microsoft.com/office/drawing/2014/main" id="{92941AEB-969C-2243-3507-6CD08456D417}"/>
              </a:ext>
            </a:extLst>
          </p:cNvPr>
          <p:cNvPicPr>
            <a:picLocks noChangeAspect="1"/>
          </p:cNvPicPr>
          <p:nvPr/>
        </p:nvPicPr>
        <p:blipFill rotWithShape="1">
          <a:blip r:embed="rId2">
            <a:extLst>
              <a:ext uri="{28A0092B-C50C-407E-A947-70E740481C1C}">
                <a14:useLocalDpi xmlns:a14="http://schemas.microsoft.com/office/drawing/2010/main" val="0"/>
              </a:ext>
            </a:extLst>
          </a:blip>
          <a:srcRect r="21094" b="1"/>
          <a:stretch/>
        </p:blipFill>
        <p:spPr>
          <a:xfrm>
            <a:off x="761367" y="875267"/>
            <a:ext cx="4541003" cy="5107469"/>
          </a:xfrm>
          <a:prstGeom prst="rect">
            <a:avLst/>
          </a:prstGeom>
        </p:spPr>
      </p:pic>
      <p:sp>
        <p:nvSpPr>
          <p:cNvPr id="8" name="Content Placeholder 7">
            <a:extLst>
              <a:ext uri="{FF2B5EF4-FFF2-40B4-BE49-F238E27FC236}">
                <a16:creationId xmlns:a16="http://schemas.microsoft.com/office/drawing/2014/main" id="{E4DC2227-747E-522C-3677-7063211850E7}"/>
              </a:ext>
            </a:extLst>
          </p:cNvPr>
          <p:cNvSpPr>
            <a:spLocks noGrp="1"/>
          </p:cNvSpPr>
          <p:nvPr>
            <p:ph idx="1"/>
          </p:nvPr>
        </p:nvSpPr>
        <p:spPr>
          <a:xfrm>
            <a:off x="6816432" y="1974058"/>
            <a:ext cx="4554680" cy="4266021"/>
          </a:xfrm>
        </p:spPr>
        <p:txBody>
          <a:bodyPr vert="horz" lIns="91440" tIns="45720" rIns="91440" bIns="45720" rtlCol="0" anchor="t">
            <a:normAutofit/>
          </a:bodyPr>
          <a:lstStyle/>
          <a:p>
            <a:r>
              <a:rPr lang="en-US" sz="1800" dirty="0">
                <a:ea typeface="+mn-lt"/>
                <a:cs typeface="+mn-lt"/>
              </a:rPr>
              <a:t>Finally, let's execute our files and put our code to the test!</a:t>
            </a:r>
          </a:p>
          <a:p>
            <a:r>
              <a:rPr lang="en-US" sz="1800" dirty="0">
                <a:ea typeface="+mn-lt"/>
                <a:cs typeface="+mn-lt"/>
              </a:rPr>
              <a:t>But first, in order to do so, we have to represent our vertices and edges by using v as a vector the represents vertices, and e as a vector from </a:t>
            </a:r>
            <a:r>
              <a:rPr lang="en-US" sz="1800" dirty="0" err="1">
                <a:ea typeface="+mn-lt"/>
                <a:cs typeface="+mn-lt"/>
              </a:rPr>
              <a:t>EdgeStruct</a:t>
            </a:r>
            <a:r>
              <a:rPr lang="en-US" sz="1800" dirty="0">
                <a:ea typeface="+mn-lt"/>
                <a:cs typeface="+mn-lt"/>
              </a:rPr>
              <a:t> that represents edges.</a:t>
            </a:r>
          </a:p>
          <a:p>
            <a:r>
              <a:rPr lang="en-US" sz="1800" dirty="0">
                <a:ea typeface="+mn-lt"/>
                <a:cs typeface="+mn-lt"/>
              </a:rPr>
              <a:t>These are setting up three different graphs, from the simplest to more complexed concepts. </a:t>
            </a:r>
          </a:p>
          <a:p>
            <a:endParaRPr lang="en-US" sz="1800" dirty="0">
              <a:ea typeface="+mn-lt"/>
              <a:cs typeface="+mn-lt"/>
            </a:endParaRPr>
          </a:p>
        </p:txBody>
      </p:sp>
    </p:spTree>
    <p:extLst>
      <p:ext uri="{BB962C8B-B14F-4D97-AF65-F5344CB8AC3E}">
        <p14:creationId xmlns:p14="http://schemas.microsoft.com/office/powerpoint/2010/main" val="2311630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5644" y="0"/>
            <a:ext cx="1046356"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7" name="Rectangle 16">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6444" y="0"/>
            <a:ext cx="6075554"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26790B-EEDE-C4C3-44F5-DE6FD98BD0EA}"/>
              </a:ext>
            </a:extLst>
          </p:cNvPr>
          <p:cNvSpPr>
            <a:spLocks noGrp="1"/>
          </p:cNvSpPr>
          <p:nvPr>
            <p:ph type="title"/>
          </p:nvPr>
        </p:nvSpPr>
        <p:spPr>
          <a:xfrm>
            <a:off x="6816432" y="762001"/>
            <a:ext cx="4554680" cy="1708243"/>
          </a:xfrm>
        </p:spPr>
        <p:txBody>
          <a:bodyPr anchor="ctr">
            <a:normAutofit/>
          </a:bodyPr>
          <a:lstStyle/>
          <a:p>
            <a:r>
              <a:rPr lang="en-US" sz="4000"/>
              <a:t>Main.cpp (Part 2)</a:t>
            </a:r>
          </a:p>
        </p:txBody>
      </p:sp>
      <p:pic>
        <p:nvPicPr>
          <p:cNvPr id="4" name="Content Placeholder 3">
            <a:extLst>
              <a:ext uri="{FF2B5EF4-FFF2-40B4-BE49-F238E27FC236}">
                <a16:creationId xmlns:a16="http://schemas.microsoft.com/office/drawing/2014/main" id="{C23A058E-A3B9-8ABC-F548-6EADC9F3D015}"/>
              </a:ext>
            </a:extLst>
          </p:cNvPr>
          <p:cNvPicPr>
            <a:picLocks noChangeAspect="1"/>
          </p:cNvPicPr>
          <p:nvPr/>
        </p:nvPicPr>
        <p:blipFill rotWithShape="1">
          <a:blip r:embed="rId2">
            <a:extLst>
              <a:ext uri="{28A0092B-C50C-407E-A947-70E740481C1C}">
                <a14:useLocalDpi xmlns:a14="http://schemas.microsoft.com/office/drawing/2010/main" val="0"/>
              </a:ext>
            </a:extLst>
          </a:blip>
          <a:srcRect t="7033" b="18734"/>
          <a:stretch/>
        </p:blipFill>
        <p:spPr>
          <a:xfrm>
            <a:off x="761367" y="875273"/>
            <a:ext cx="4541003" cy="5107458"/>
          </a:xfrm>
          <a:prstGeom prst="rect">
            <a:avLst/>
          </a:prstGeom>
        </p:spPr>
      </p:pic>
      <p:sp>
        <p:nvSpPr>
          <p:cNvPr id="8" name="Content Placeholder 7">
            <a:extLst>
              <a:ext uri="{FF2B5EF4-FFF2-40B4-BE49-F238E27FC236}">
                <a16:creationId xmlns:a16="http://schemas.microsoft.com/office/drawing/2014/main" id="{B768CDE2-E16E-6C22-D475-770526D16012}"/>
              </a:ext>
            </a:extLst>
          </p:cNvPr>
          <p:cNvSpPr>
            <a:spLocks noGrp="1"/>
          </p:cNvSpPr>
          <p:nvPr>
            <p:ph idx="1"/>
          </p:nvPr>
        </p:nvSpPr>
        <p:spPr>
          <a:xfrm>
            <a:off x="6816432" y="2192054"/>
            <a:ext cx="4554680" cy="4289930"/>
          </a:xfrm>
        </p:spPr>
        <p:txBody>
          <a:bodyPr anchor="ctr">
            <a:normAutofit/>
          </a:bodyPr>
          <a:lstStyle/>
          <a:p>
            <a:r>
              <a:rPr lang="en-US" sz="2000" dirty="0"/>
              <a:t>As every </a:t>
            </a:r>
            <a:r>
              <a:rPr lang="en-US" sz="2000" dirty="0" err="1"/>
              <a:t>vertice</a:t>
            </a:r>
            <a:r>
              <a:rPr lang="en-US" sz="2000" dirty="0"/>
              <a:t> and edges are getting removed, the graph get printed each time. The purpose of this is to the change in structure of the graph.</a:t>
            </a:r>
          </a:p>
          <a:p>
            <a:r>
              <a:rPr lang="en-US" sz="2000" dirty="0"/>
              <a:t>Now the </a:t>
            </a:r>
            <a:r>
              <a:rPr lang="en-US" sz="2000" err="1"/>
              <a:t>shortestPath</a:t>
            </a:r>
            <a:r>
              <a:rPr lang="en-US" sz="2000" dirty="0"/>
              <a:t> function is implemented. This shows the shortest path by listing the least number of vertices between the pair of vertices called in the </a:t>
            </a:r>
            <a:r>
              <a:rPr lang="en-US" sz="2000" err="1"/>
              <a:t>shortestPath</a:t>
            </a:r>
            <a:r>
              <a:rPr lang="en-US" sz="2000" dirty="0"/>
              <a:t> function.</a:t>
            </a:r>
          </a:p>
          <a:p>
            <a:r>
              <a:rPr lang="en-US" sz="2000" dirty="0"/>
              <a:t>The vertices are then cleared from the path vector, ready to store new vertices when the </a:t>
            </a:r>
            <a:r>
              <a:rPr lang="en-US" sz="2000" dirty="0" err="1"/>
              <a:t>shortestPath</a:t>
            </a:r>
            <a:r>
              <a:rPr lang="en-US" sz="2000" dirty="0"/>
              <a:t> function is called</a:t>
            </a:r>
          </a:p>
          <a:p>
            <a:endParaRPr lang="en-US" sz="2000" dirty="0"/>
          </a:p>
        </p:txBody>
      </p:sp>
    </p:spTree>
    <p:extLst>
      <p:ext uri="{BB962C8B-B14F-4D97-AF65-F5344CB8AC3E}">
        <p14:creationId xmlns:p14="http://schemas.microsoft.com/office/powerpoint/2010/main" val="4133698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Final Project</vt:lpstr>
      <vt:lpstr>GraphBase.hpp (Given Header file)</vt:lpstr>
      <vt:lpstr>Header (Part 1)</vt:lpstr>
      <vt:lpstr>Header (Part 2)</vt:lpstr>
      <vt:lpstr>Graph.cpp (Part 1)</vt:lpstr>
      <vt:lpstr>Graph.cpp (Part 2)</vt:lpstr>
      <vt:lpstr>Graph.cpp (Part 3)</vt:lpstr>
      <vt:lpstr>Graph.cpp (Part 5)</vt:lpstr>
      <vt:lpstr>Main.cpp (Part 1)</vt:lpstr>
      <vt:lpstr>Main.cpp (Part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410</cp:revision>
  <dcterms:created xsi:type="dcterms:W3CDTF">2024-04-21T01:06:21Z</dcterms:created>
  <dcterms:modified xsi:type="dcterms:W3CDTF">2024-04-22T02:49:52Z</dcterms:modified>
</cp:coreProperties>
</file>